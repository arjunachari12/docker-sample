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9144000"/>
  <p:notesSz cx="6858000" cy="9144000"/>
  <p:embeddedFontLst>
    <p:embeddedFont>
      <p:font typeface="Average"/>
      <p:regular r:id="rId61"/>
    </p:embeddedFont>
    <p:embeddedFont>
      <p:font typeface="Oswald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4" roundtripDataSignature="AMtx7mj9niyfdnJzOEHVSKl+AuQ33D6g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swald-regular.fntdata"/><Relationship Id="rId61" Type="http://schemas.openxmlformats.org/officeDocument/2006/relationships/font" Target="fonts/Average-regular.fntdata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font" Target="fonts/Oswal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9d56bd8d_0_123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b19d56bd8d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9d56bd8d_0_123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19d56bd8d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9d56bd8d_0_124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b19d56bd8d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19d56bd8d_0_12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b19d56bd8d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5ed0218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e5ed02188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5ed0218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e5ed02188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e5ed02188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e5ed02188_0_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5ed0218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be5ed02188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e5ed0218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e5ed02188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e5ed0218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e5ed02188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e5ed0218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e5ed02188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e5ed0218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be5ed02188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e5ed0218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be5ed02188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e5ed0218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be5ed02188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e5ed0218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be5ed02188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e5ed0218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be5ed02188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e5ed0218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e5ed02188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e5ed0218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be5ed02188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e5ed021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e5ed0218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e5ed021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be5ed0218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e5ed02188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be5ed02188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e5ed021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be5ed0218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e5ed021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e5ed02188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e5ed0218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be5ed0218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e5ed0218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be5ed02188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e5ed021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be5ed02188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e5ed02188_0_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be5ed0218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e5ed0218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be5ed02188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e5ed0218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be5ed02188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e5ed02188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be5ed0218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e5ed02188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e5ed02188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e5ed0218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e5ed02188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e5ed02188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e5ed02188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e5ed02188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be5ed02188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e5ed02188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be5ed02188_0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e5ed02188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be5ed02188_0_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e5ed02188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be5ed02188_0_3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e5ed02188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be5ed02188_0_3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e5ed0218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be5ed02188_0_3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e5ed02188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be5ed02188_0_3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e5ed02188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be5ed02188_0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e5ed02188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be5ed02188_0_4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e5ed02188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be5ed02188_0_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5ed02188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be5ed02188_0_4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e5ed02188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be5ed02188_0_4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e5ed02188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be5ed02188_0_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e5ed02188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be5ed02188_0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e5ed02188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be5ed02188_0_4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e5ed02188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be5ed02188_0_4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e5ed02188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be5ed02188_0_4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e5ed02188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be5ed02188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e5ed02188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be5ed02188_0_4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e5ed02188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be5ed02188_0_4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e5ed02188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be5ed02188_0_4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e5ed02188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be5ed02188_0_5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b19d56bd8d_2_352"/>
          <p:cNvGrpSpPr/>
          <p:nvPr/>
        </p:nvGrpSpPr>
        <p:grpSpPr>
          <a:xfrm>
            <a:off x="4350279" y="3807170"/>
            <a:ext cx="443589" cy="140843"/>
            <a:chOff x="4137525" y="2915950"/>
            <a:chExt cx="869100" cy="207000"/>
          </a:xfrm>
        </p:grpSpPr>
        <p:sp>
          <p:nvSpPr>
            <p:cNvPr id="11" name="Google Shape;11;g3b19d56bd8d_2_35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b19d56bd8d_2_35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b19d56bd8d_2_35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g3b19d56bd8d_2_352"/>
          <p:cNvSpPr txBox="1"/>
          <p:nvPr>
            <p:ph type="ctrTitle"/>
          </p:nvPr>
        </p:nvSpPr>
        <p:spPr>
          <a:xfrm>
            <a:off x="671258" y="1321067"/>
            <a:ext cx="78015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b19d56bd8d_2_352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b19d56bd8d_2_35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19d56bd8d_2_3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b19d56bd8d_2_3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b19d56bd8d_2_363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19d56bd8d_2_3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b19d56bd8d_2_39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g3b19d56bd8d_2_3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b19d56bd8d_2_3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g3b19d56bd8d_2_3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6">
  <p:cSld name="AUTOLAYOUT_27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c3fd75efc_0_4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g3bc3fd75efc_0_420"/>
          <p:cNvPicPr preferRelativeResize="0"/>
          <p:nvPr/>
        </p:nvPicPr>
        <p:blipFill rotWithShape="1">
          <a:blip r:embed="rId2">
            <a:alphaModFix/>
          </a:blip>
          <a:srcRect b="0" l="38684" r="0" t="0"/>
          <a:stretch/>
        </p:blipFill>
        <p:spPr>
          <a:xfrm>
            <a:off x="2291" y="1343133"/>
            <a:ext cx="1272100" cy="41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g3bc3fd75efc_0_420"/>
          <p:cNvSpPr txBox="1"/>
          <p:nvPr>
            <p:ph type="ctrTitle"/>
          </p:nvPr>
        </p:nvSpPr>
        <p:spPr>
          <a:xfrm>
            <a:off x="1884750" y="948433"/>
            <a:ext cx="69477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" name="Google Shape;31;g3bc3fd75efc_0_420"/>
          <p:cNvSpPr txBox="1"/>
          <p:nvPr>
            <p:ph idx="1" type="body"/>
          </p:nvPr>
        </p:nvSpPr>
        <p:spPr>
          <a:xfrm>
            <a:off x="1884750" y="2434100"/>
            <a:ext cx="6947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2" name="Google Shape;32;g3bc3fd75efc_0_4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7">
  <p:cSld name="AUTOLAYOUT_28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c3fd75efc_0_4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g3bc3fd75efc_0_426"/>
          <p:cNvPicPr preferRelativeResize="0"/>
          <p:nvPr/>
        </p:nvPicPr>
        <p:blipFill rotWithShape="1">
          <a:blip r:embed="rId2">
            <a:alphaModFix/>
          </a:blip>
          <a:srcRect b="0" l="38684" r="0" t="0"/>
          <a:stretch/>
        </p:blipFill>
        <p:spPr>
          <a:xfrm>
            <a:off x="2291" y="1343133"/>
            <a:ext cx="1272100" cy="41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bc3fd75efc_0_426"/>
          <p:cNvSpPr txBox="1"/>
          <p:nvPr>
            <p:ph type="ctrTitle"/>
          </p:nvPr>
        </p:nvSpPr>
        <p:spPr>
          <a:xfrm>
            <a:off x="1884750" y="948433"/>
            <a:ext cx="69477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" name="Google Shape;37;g3bc3fd75efc_0_426"/>
          <p:cNvSpPr txBox="1"/>
          <p:nvPr>
            <p:ph idx="1" type="body"/>
          </p:nvPr>
        </p:nvSpPr>
        <p:spPr>
          <a:xfrm>
            <a:off x="1884750" y="2434100"/>
            <a:ext cx="69477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 sz="1400"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" name="Google Shape;38;g3bc3fd75efc_0_4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6">
  <p:cSld name="AUTOLAYOUT_47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c3fd75efc_0_43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bc3fd75efc_0_432"/>
          <p:cNvSpPr/>
          <p:nvPr/>
        </p:nvSpPr>
        <p:spPr>
          <a:xfrm>
            <a:off x="4574400" y="0"/>
            <a:ext cx="4569600" cy="685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bc3fd75efc_0_432"/>
          <p:cNvSpPr/>
          <p:nvPr/>
        </p:nvSpPr>
        <p:spPr>
          <a:xfrm>
            <a:off x="5323050" y="741200"/>
            <a:ext cx="3075000" cy="5375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BDBDB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c3fd75efc_0_432"/>
          <p:cNvSpPr txBox="1"/>
          <p:nvPr>
            <p:ph type="title"/>
          </p:nvPr>
        </p:nvSpPr>
        <p:spPr>
          <a:xfrm>
            <a:off x="291875" y="542533"/>
            <a:ext cx="39780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bc3fd75efc_0_432"/>
          <p:cNvSpPr txBox="1"/>
          <p:nvPr>
            <p:ph idx="1" type="body"/>
          </p:nvPr>
        </p:nvSpPr>
        <p:spPr>
          <a:xfrm>
            <a:off x="291950" y="2473267"/>
            <a:ext cx="3978000" cy="3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" name="Google Shape;45;g3bc3fd75efc_0_4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3">
  <p:cSld name="AUTOLAYOUT_44"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c3fd75efc_0_43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g3bc3fd75efc_0_439"/>
          <p:cNvGrpSpPr/>
          <p:nvPr/>
        </p:nvGrpSpPr>
        <p:grpSpPr>
          <a:xfrm>
            <a:off x="0" y="0"/>
            <a:ext cx="4316700" cy="6857829"/>
            <a:chOff x="0" y="0"/>
            <a:chExt cx="4316700" cy="5143500"/>
          </a:xfrm>
        </p:grpSpPr>
        <p:sp>
          <p:nvSpPr>
            <p:cNvPr id="49" name="Google Shape;49;g3bc3fd75efc_0_439"/>
            <p:cNvSpPr/>
            <p:nvPr/>
          </p:nvSpPr>
          <p:spPr>
            <a:xfrm>
              <a:off x="0" y="0"/>
              <a:ext cx="4316700" cy="5143500"/>
            </a:xfrm>
            <a:prstGeom prst="rect">
              <a:avLst/>
            </a:prstGeom>
            <a:solidFill>
              <a:srgbClr val="284F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bc3fd75efc_0_439"/>
            <p:cNvSpPr/>
            <p:nvPr/>
          </p:nvSpPr>
          <p:spPr>
            <a:xfrm>
              <a:off x="386075" y="4599625"/>
              <a:ext cx="1354500" cy="137700"/>
            </a:xfrm>
            <a:prstGeom prst="rect">
              <a:avLst/>
            </a:prstGeom>
            <a:noFill/>
            <a:ln cap="flat" cmpd="sng" w="9525">
              <a:solidFill>
                <a:srgbClr val="92C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bc3fd75efc_0_439"/>
            <p:cNvSpPr/>
            <p:nvPr/>
          </p:nvSpPr>
          <p:spPr>
            <a:xfrm>
              <a:off x="841363" y="4599625"/>
              <a:ext cx="142800" cy="137700"/>
            </a:xfrm>
            <a:prstGeom prst="rect">
              <a:avLst/>
            </a:prstGeom>
            <a:noFill/>
            <a:ln cap="flat" cmpd="sng" w="9525">
              <a:solidFill>
                <a:srgbClr val="92C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bc3fd75efc_0_439"/>
            <p:cNvSpPr/>
            <p:nvPr/>
          </p:nvSpPr>
          <p:spPr>
            <a:xfrm>
              <a:off x="1142492" y="4599625"/>
              <a:ext cx="142800" cy="137700"/>
            </a:xfrm>
            <a:prstGeom prst="rect">
              <a:avLst/>
            </a:prstGeom>
            <a:noFill/>
            <a:ln cap="flat" cmpd="sng" w="9525">
              <a:solidFill>
                <a:srgbClr val="92C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bc3fd75efc_0_439"/>
            <p:cNvSpPr/>
            <p:nvPr/>
          </p:nvSpPr>
          <p:spPr>
            <a:xfrm>
              <a:off x="3875425" y="381000"/>
              <a:ext cx="142800" cy="137700"/>
            </a:xfrm>
            <a:prstGeom prst="rect">
              <a:avLst/>
            </a:prstGeom>
            <a:solidFill>
              <a:srgbClr val="92C1E8"/>
            </a:solidFill>
            <a:ln cap="flat" cmpd="sng" w="9525">
              <a:solidFill>
                <a:srgbClr val="92C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bc3fd75efc_0_439"/>
            <p:cNvSpPr/>
            <p:nvPr/>
          </p:nvSpPr>
          <p:spPr>
            <a:xfrm>
              <a:off x="3732625" y="518700"/>
              <a:ext cx="142800" cy="137700"/>
            </a:xfrm>
            <a:prstGeom prst="rect">
              <a:avLst/>
            </a:prstGeom>
            <a:noFill/>
            <a:ln cap="flat" cmpd="sng" w="9525">
              <a:solidFill>
                <a:srgbClr val="92C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g3bc3fd75efc_0_439"/>
          <p:cNvSpPr txBox="1"/>
          <p:nvPr>
            <p:ph type="title"/>
          </p:nvPr>
        </p:nvSpPr>
        <p:spPr>
          <a:xfrm>
            <a:off x="311725" y="871101"/>
            <a:ext cx="3706500" cy="44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" name="Google Shape;56;g3bc3fd75efc_0_439"/>
          <p:cNvSpPr txBox="1"/>
          <p:nvPr>
            <p:ph idx="1" type="body"/>
          </p:nvPr>
        </p:nvSpPr>
        <p:spPr>
          <a:xfrm>
            <a:off x="4620575" y="871100"/>
            <a:ext cx="4211700" cy="4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F7D"/>
              </a:buClr>
              <a:buSzPts val="1200"/>
              <a:buChar char="●"/>
              <a:defRPr sz="1200">
                <a:solidFill>
                  <a:srgbClr val="284F7D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84F7D"/>
              </a:buClr>
              <a:buSzPts val="1000"/>
              <a:buChar char="○"/>
              <a:defRPr sz="1000">
                <a:solidFill>
                  <a:srgbClr val="284F7D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84F7D"/>
              </a:buClr>
              <a:buSzPts val="1000"/>
              <a:buChar char="■"/>
              <a:defRPr sz="1000">
                <a:solidFill>
                  <a:srgbClr val="284F7D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84F7D"/>
              </a:buClr>
              <a:buSzPts val="1000"/>
              <a:buChar char="●"/>
              <a:defRPr sz="1000">
                <a:solidFill>
                  <a:srgbClr val="284F7D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84F7D"/>
              </a:buClr>
              <a:buSzPts val="1000"/>
              <a:buChar char="○"/>
              <a:defRPr sz="1000">
                <a:solidFill>
                  <a:srgbClr val="284F7D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84F7D"/>
              </a:buClr>
              <a:buSzPts val="1000"/>
              <a:buChar char="■"/>
              <a:defRPr sz="1000">
                <a:solidFill>
                  <a:srgbClr val="284F7D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84F7D"/>
              </a:buClr>
              <a:buSzPts val="1000"/>
              <a:buChar char="●"/>
              <a:defRPr sz="1000">
                <a:solidFill>
                  <a:srgbClr val="284F7D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84F7D"/>
              </a:buClr>
              <a:buSzPts val="1000"/>
              <a:buChar char="○"/>
              <a:defRPr sz="1000">
                <a:solidFill>
                  <a:srgbClr val="284F7D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284F7D"/>
              </a:buClr>
              <a:buSzPts val="1000"/>
              <a:buChar char="■"/>
              <a:defRPr sz="1000">
                <a:solidFill>
                  <a:srgbClr val="284F7D"/>
                </a:solidFill>
              </a:defRPr>
            </a:lvl9pPr>
          </a:lstStyle>
          <a:p/>
        </p:txBody>
      </p:sp>
      <p:sp>
        <p:nvSpPr>
          <p:cNvPr id="57" name="Google Shape;57;g3bc3fd75efc_0_4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61616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8">
  <p:cSld name="AUTOLAYOUT_49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fd75efc_0_45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bc3fd75efc_0_451"/>
          <p:cNvSpPr txBox="1"/>
          <p:nvPr>
            <p:ph type="title"/>
          </p:nvPr>
        </p:nvSpPr>
        <p:spPr>
          <a:xfrm>
            <a:off x="291875" y="542533"/>
            <a:ext cx="48135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g3bc3fd75efc_0_451"/>
          <p:cNvSpPr txBox="1"/>
          <p:nvPr>
            <p:ph idx="1" type="body"/>
          </p:nvPr>
        </p:nvSpPr>
        <p:spPr>
          <a:xfrm>
            <a:off x="291975" y="2473268"/>
            <a:ext cx="4813500" cy="3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Google Shape;62;g3bc3fd75efc_0_4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19d56bd8d_2_360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g3b19d56bd8d_2_360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19d56bd8d_2_3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g3b19d56bd8d_2_36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g3b19d56bd8d_2_36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g3b19d56bd8d_2_367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19d56bd8d_2_3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g3b19d56bd8d_2_37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9d56bd8d_2_375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g3b19d56bd8d_2_375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g3b19d56bd8d_2_375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9d56bd8d_2_379"/>
          <p:cNvSpPr txBox="1"/>
          <p:nvPr>
            <p:ph type="title"/>
          </p:nvPr>
        </p:nvSpPr>
        <p:spPr>
          <a:xfrm>
            <a:off x="490250" y="701800"/>
            <a:ext cx="62271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g3b19d56bd8d_2_379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19d56bd8d_2_38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g3b19d56bd8d_2_38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g3b19d56bd8d_2_382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g3b19d56bd8d_2_382"/>
          <p:cNvSpPr txBox="1"/>
          <p:nvPr>
            <p:ph idx="1" type="subTitle"/>
          </p:nvPr>
        </p:nvSpPr>
        <p:spPr>
          <a:xfrm>
            <a:off x="265500" y="37936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g3b19d56bd8d_2_382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g3b19d56bd8d_2_38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19d56bd8d_2_38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90" name="Google Shape;90;g3b19d56bd8d_2_389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19d56bd8d_2_392"/>
          <p:cNvSpPr txBox="1"/>
          <p:nvPr>
            <p:ph hasCustomPrompt="1" type="title"/>
          </p:nvPr>
        </p:nvSpPr>
        <p:spPr>
          <a:xfrm>
            <a:off x="311700" y="1673700"/>
            <a:ext cx="8520600" cy="252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g3b19d56bd8d_2_392"/>
          <p:cNvSpPr txBox="1"/>
          <p:nvPr>
            <p:ph idx="1" type="body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g3b19d56bd8d_2_39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9d56bd8d_2_396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19d56bd8d_2_3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b19d56bd8d_2_3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b="0" i="0" sz="18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b="0" i="0" sz="14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g3b19d56bd8d_2_34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p0xZ5nDi8_Yz-OgY8gut9rOgdfZcA5M8/edit?usp=sharing&amp;ouid=108972485768906927376&amp;rtpof=true&amp;sd=tru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19d56bd8d_0_1233"/>
          <p:cNvSpPr txBox="1"/>
          <p:nvPr>
            <p:ph type="ctrTitle"/>
          </p:nvPr>
        </p:nvSpPr>
        <p:spPr>
          <a:xfrm>
            <a:off x="671258" y="1761422"/>
            <a:ext cx="7801500" cy="307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Next level Docker</a:t>
            </a:r>
            <a:endParaRPr/>
          </a:p>
        </p:txBody>
      </p:sp>
      <p:sp>
        <p:nvSpPr>
          <p:cNvPr id="102" name="Google Shape;102;g3b19d56bd8d_0_1233"/>
          <p:cNvSpPr txBox="1"/>
          <p:nvPr>
            <p:ph idx="1" type="subTitle"/>
          </p:nvPr>
        </p:nvSpPr>
        <p:spPr>
          <a:xfrm>
            <a:off x="671250" y="5644224"/>
            <a:ext cx="7801500" cy="14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Training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19d56bd8d_0_123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8" name="Google Shape;108;g3b19d56bd8d_0_1238"/>
          <p:cNvSpPr txBox="1"/>
          <p:nvPr>
            <p:ph idx="1" type="body"/>
          </p:nvPr>
        </p:nvSpPr>
        <p:spPr>
          <a:xfrm>
            <a:off x="324237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https://docs.google.com/document/d/1p0xZ5nDi8_Yz-OgY8gut9rOgdfZcA5M8/edit?usp=sharing&amp;ouid=108972485768906927376&amp;rtpof=true&amp;sd=true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9d56bd8d_0_1243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Training Format</a:t>
            </a:r>
            <a:endParaRPr/>
          </a:p>
        </p:txBody>
      </p:sp>
      <p:sp>
        <p:nvSpPr>
          <p:cNvPr id="114" name="Google Shape;114;g3b19d56bd8d_0_1243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Concepts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Hands-on exercises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Assignments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Interactive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9d56bd8d_0_124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Timing</a:t>
            </a:r>
            <a:endParaRPr/>
          </a:p>
        </p:txBody>
      </p:sp>
      <p:sp>
        <p:nvSpPr>
          <p:cNvPr id="120" name="Google Shape;120;g3b19d56bd8d_0_1248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Start time at 9 am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Break 11 am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Lunch 1pm to 2pm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Break 3.30 pm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End at 5 pm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5ed02188_0_1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Generative AI?</a:t>
            </a:r>
            <a:endParaRPr/>
          </a:p>
        </p:txBody>
      </p:sp>
      <p:sp>
        <p:nvSpPr>
          <p:cNvPr id="126" name="Google Shape;126;g3be5ed02188_0_1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systems that generate new content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generation (LLMs)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generation (Code models)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&amp; video generation (Diffusion models)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Multimodal generation (Text + Image)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Driven by deep neural networks (Transformers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5ed02188_0_1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Large Language Models Work</a:t>
            </a:r>
            <a:endParaRPr/>
          </a:p>
        </p:txBody>
      </p:sp>
      <p:sp>
        <p:nvSpPr>
          <p:cNvPr id="132" name="Google Shape;132;g3be5ed02188_0_1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Transformer architecture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→ Tokenization → Numerical vectors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next token probabilistically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window determines memory limit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controls randomness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Stateless unless memory is added externally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5ed02188_0_2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Large Language Models Work</a:t>
            </a:r>
            <a:endParaRPr/>
          </a:p>
        </p:txBody>
      </p:sp>
      <p:pic>
        <p:nvPicPr>
          <p:cNvPr id="138" name="Google Shape;138;g3be5ed02188_0_2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54"/>
            <a:ext cx="8916625" cy="3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e5ed02188_0_1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Hosted vs Local Models</a:t>
            </a:r>
            <a:endParaRPr/>
          </a:p>
        </p:txBody>
      </p:sp>
      <p:sp>
        <p:nvSpPr>
          <p:cNvPr id="144" name="Google Shape;144;g3be5ed02188_0_1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Hosted: OpenAI, Anthropic, Azure OpenAI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Local: Phi-2, Mistral, LLaVA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Hosted requires internet &amp; API key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requires CPU/GPU resources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size affects RAM &amp; GPU usage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Containerized models improve portability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e5ed02188_0_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AI Agent?</a:t>
            </a:r>
            <a:endParaRPr/>
          </a:p>
        </p:txBody>
      </p:sp>
      <p:sp>
        <p:nvSpPr>
          <p:cNvPr id="150" name="Google Shape;150;g3be5ed02188_0_14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+ Tools + Memory + Reasoning loop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autonomously toward a goal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execute code or call APIs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Maintains state across interactions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iterative Observe → Think → Act loop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powerful than prompt-based systems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e5ed02188_0_1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Execution Flow</a:t>
            </a:r>
            <a:endParaRPr/>
          </a:p>
        </p:txBody>
      </p:sp>
      <p:sp>
        <p:nvSpPr>
          <p:cNvPr id="156" name="Google Shape;156;g3be5ed02188_0_15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Goal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interprets objective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selects tool or action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Executes action (code/API)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Observes result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Refines plan and repeats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e5ed02188_0_1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Architecture Components</a:t>
            </a:r>
            <a:endParaRPr/>
          </a:p>
        </p:txBody>
      </p:sp>
      <p:sp>
        <p:nvSpPr>
          <p:cNvPr id="162" name="Google Shape;162;g3be5ed02188_0_15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Brain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interface (CLI/APIs)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(Vector DB / Context)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 / Reasoning loop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environment (Container)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&amp; monitoring layer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e5ed02188_0_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vs Agentic Workflows</a:t>
            </a:r>
            <a:endParaRPr/>
          </a:p>
        </p:txBody>
      </p:sp>
      <p:sp>
        <p:nvSpPr>
          <p:cNvPr id="168" name="Google Shape;168;g3be5ed02188_0_16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Deterministic: Fixed step pipelines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Agentic: LLM dynamically decides steps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branching logic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 unexpected outcomes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orchestration engine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intelligent automation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e5ed02188_0_1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Containers are Critical in GenAI</a:t>
            </a:r>
            <a:endParaRPr/>
          </a:p>
        </p:txBody>
      </p:sp>
      <p:sp>
        <p:nvSpPr>
          <p:cNvPr id="174" name="Google Shape;174;g3be5ed02188_0_16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Isolate model dependencies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GPU/CUDA conflicts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untrusted AI-generated code safely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reproducibility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CI/CD integration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deployment portability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e5ed02188_0_1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Execution Patterns</a:t>
            </a:r>
            <a:endParaRPr/>
          </a:p>
        </p:txBody>
      </p:sp>
      <p:sp>
        <p:nvSpPr>
          <p:cNvPr id="180" name="Google Shape;180;g3be5ed02188_0_17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API-based inference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embedded inference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Containerized model runtime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Runner approach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CPU &amp; GPU execution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security and scalability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e5ed02188_0_1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as Code Philosophy</a:t>
            </a:r>
            <a:endParaRPr/>
          </a:p>
        </p:txBody>
      </p:sp>
      <p:sp>
        <p:nvSpPr>
          <p:cNvPr id="186" name="Google Shape;186;g3be5ed02188_0_17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Pipelines defined in Python or Go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Version-controlled workflows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Testable &amp; reproducible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definitions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Reusable components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Dagger pipelines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e5ed02188_0_1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vs Imperative Thinking</a:t>
            </a:r>
            <a:endParaRPr/>
          </a:p>
        </p:txBody>
      </p:sp>
      <p:sp>
        <p:nvSpPr>
          <p:cNvPr id="192" name="Google Shape;192;g3be5ed02188_0_18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Imperative: Step-by-step instructions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Declarative: Describe desired outcome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resolves execution plan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for distributed systems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modular composition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mindset for workflow tools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e5ed02188_0_1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Risks in Agentic Systems</a:t>
            </a:r>
            <a:endParaRPr/>
          </a:p>
        </p:txBody>
      </p:sp>
      <p:sp>
        <p:nvSpPr>
          <p:cNvPr id="198" name="Google Shape;198;g3be5ed02188_0_18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injection attacks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code execution risk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leakage vulnerabilities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exhaustion (GPU abuse)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Dependency supply chain risks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isolation reduces risk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e5ed02188_0_1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GenAI Infrastructure Stack</a:t>
            </a:r>
            <a:endParaRPr/>
          </a:p>
        </p:txBody>
      </p:sp>
      <p:sp>
        <p:nvSpPr>
          <p:cNvPr id="204" name="Google Shape;204;g3be5ed02188_0_19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Layer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Layer (Dagger)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Layer (Docker)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Runtime Layer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Layer (CPU/GPU)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e5ed02188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5: Agentic Workflow Composition with Dagger</a:t>
            </a:r>
            <a:endParaRPr/>
          </a:p>
        </p:txBody>
      </p:sp>
      <p:sp>
        <p:nvSpPr>
          <p:cNvPr id="210" name="Google Shape;210;g3be5ed02188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Dagger and Workflows as Code philosophy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Python or Go SDKs for declarative pipelines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LLM and container runs inside workflows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reproducible and secure AI execution pipelines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Compose agentic multi-step workflows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DevOps + AI automation patterns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e5ed02188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Dagger?</a:t>
            </a:r>
            <a:endParaRPr/>
          </a:p>
        </p:txBody>
      </p:sp>
      <p:sp>
        <p:nvSpPr>
          <p:cNvPr id="216" name="Google Shape;216;g3be5ed02188_0_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programmable CI/CD and workflow engine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Workflows as Code philosophy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Pipelines written in Go, Python, TypeScript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tasks inside ephemeral containers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Portable and cloud-native execution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on BuildKit backend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e5ed02188_0_2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Dagger?</a:t>
            </a:r>
            <a:endParaRPr/>
          </a:p>
        </p:txBody>
      </p:sp>
      <p:pic>
        <p:nvPicPr>
          <p:cNvPr id="222" name="Google Shape;222;g3be5ed02188_0_2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8839202" cy="38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e5ed02188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Workflows as Code Philosophy</a:t>
            </a:r>
            <a:endParaRPr/>
          </a:p>
        </p:txBody>
      </p:sp>
      <p:sp>
        <p:nvSpPr>
          <p:cNvPr id="228" name="Google Shape;228;g3be5ed02188_0_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Pipelines defined using real programming languages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Version-controlled and testable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Reusable modular components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debugging and IDE support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Eliminates CI vendor lock-in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 + AI tasks as programmable graphs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e5ed02188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Dagger for Agentic AI?</a:t>
            </a:r>
            <a:endParaRPr/>
          </a:p>
        </p:txBody>
      </p:sp>
      <p:sp>
        <p:nvSpPr>
          <p:cNvPr id="234" name="Google Shape;234;g3be5ed02188_0_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agents require code execution and tool usage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isolation for safety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Multi-step orchestration support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container-based tool runs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automation pipelines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for AI + DevOps integration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e5ed02188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Python SDK</a:t>
            </a:r>
            <a:endParaRPr/>
          </a:p>
        </p:txBody>
      </p:sp>
      <p:sp>
        <p:nvSpPr>
          <p:cNvPr id="240" name="Google Shape;240;g3be5ed02188_0_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Dagger Python SDK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to Dagger engine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container steps declaratively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 steps via object references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workflow asynchronously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structured outputs to agents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e5ed02188_0_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Go SDK</a:t>
            </a:r>
            <a:endParaRPr/>
          </a:p>
        </p:txBody>
      </p:sp>
      <p:sp>
        <p:nvSpPr>
          <p:cNvPr id="246" name="Google Shape;246;g3be5ed02188_0_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typing for pipeline definitions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Compile-time validation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Reusable production-ready pipelines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 containers and services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CI/CD integration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performance and reliability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e5ed02188_0_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LLMs Inside Dagger Workflows</a:t>
            </a:r>
            <a:endParaRPr/>
          </a:p>
        </p:txBody>
      </p:sp>
      <p:sp>
        <p:nvSpPr>
          <p:cNvPr id="252" name="Google Shape;252;g3be5ed02188_0_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LLM inference containers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Mount dynamic prompt files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structured responses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 LLM → Tool → Validation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execution environment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agentic AI automation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e5ed02188_0_2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be5ed02188_0_29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g3be5ed02188_0_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9806"/>
            <a:ext cx="9143999" cy="5858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e5ed02188_0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Configuring Container Runs</a:t>
            </a:r>
            <a:endParaRPr/>
          </a:p>
        </p:txBody>
      </p:sp>
      <p:sp>
        <p:nvSpPr>
          <p:cNvPr id="265" name="Google Shape;265;g3be5ed02188_0_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Pull base images (Python, Node, etc.)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Mount source directories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 environment variables securely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commands inside containers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logs and outputs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caching for performance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e5ed02188_0_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Workflow Composition Pattern</a:t>
            </a:r>
            <a:endParaRPr/>
          </a:p>
        </p:txBody>
      </p:sp>
      <p:sp>
        <p:nvSpPr>
          <p:cNvPr id="271" name="Google Shape;271;g3be5ed02188_0_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 Agent → Creates task steps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Coder Agent → Generates code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Dagger → Executes in container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Reviewer Agent → Validates output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Executor → Final deployment/action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orchestration backbone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e5ed02188_0_2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be5ed02188_0_29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g3be5ed02188_0_2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7" y="0"/>
            <a:ext cx="904050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e5ed02188_0_3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be5ed02188_0_30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g3be5ed02188_0_3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7977"/>
            <a:ext cx="9144001" cy="5542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e5ed02188_0_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Advantages</a:t>
            </a:r>
            <a:endParaRPr/>
          </a:p>
        </p:txBody>
      </p:sp>
      <p:sp>
        <p:nvSpPr>
          <p:cNvPr id="291" name="Google Shape;291;g3be5ed02188_0_4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Reproducible AI tool execution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sandboxing of generated code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pipeline runs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portability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programmable workflows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Production-ready orchestration layer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e5ed02188_0_3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6: GenAI Containerization with Docker Model Runner</a:t>
            </a:r>
            <a:endParaRPr/>
          </a:p>
        </p:txBody>
      </p:sp>
      <p:sp>
        <p:nvSpPr>
          <p:cNvPr id="297" name="Google Shape;297;g3be5ed02188_0_31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containerization matters for AI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LLMs using Docker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vs GPU execution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compatibility considerations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best practices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e5ed02188_0_3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Containerize Generative AI Models?</a:t>
            </a:r>
            <a:endParaRPr/>
          </a:p>
        </p:txBody>
      </p:sp>
      <p:sp>
        <p:nvSpPr>
          <p:cNvPr id="303" name="Google Shape;303;g3be5ed02188_0_3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Eliminates dependency conflicts (Python, CUDA, Transformers)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reproducible environments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Simplifies cloud &amp; Kubernetes deployment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secure, isolated execution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scalable AI microservices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environment-related failures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e5ed02188_0_3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Docker Model Runner?</a:t>
            </a:r>
            <a:endParaRPr/>
          </a:p>
        </p:txBody>
      </p:sp>
      <p:sp>
        <p:nvSpPr>
          <p:cNvPr id="309" name="Google Shape;309;g3be5ed02188_0_3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Containerized runtime for AI/ML models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Packages model + dependencies + inference server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models using simple docker run command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Exposes REST API for inference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locally or in Kubernetes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CPU and GPU modes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e5ed02188_0_3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Use Cases</a:t>
            </a:r>
            <a:endParaRPr/>
          </a:p>
        </p:txBody>
      </p:sp>
      <p:sp>
        <p:nvSpPr>
          <p:cNvPr id="315" name="Google Shape;315;g3be5ed02188_0_3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LLM inference without cloud cost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multimodal (Vision + Language) models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execution for AI agents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deployment (VMs, AKS, etc.)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versioning &amp; rollback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 integration for AI workloads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e5ed02188_0_3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a Language Model (CPU Mode)</a:t>
            </a:r>
            <a:endParaRPr/>
          </a:p>
        </p:txBody>
      </p:sp>
      <p:sp>
        <p:nvSpPr>
          <p:cNvPr id="321" name="Google Shape;321;g3be5ed02188_0_33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Pull inference container image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Specify model ID during startup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Expose API port (e.g., 8080)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prompt via HTTP POST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Suitable for experimentation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for small-scale applications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e5ed02188_0_3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Multimodal Models (GPU Mode)</a:t>
            </a:r>
            <a:endParaRPr/>
          </a:p>
        </p:txBody>
      </p:sp>
      <p:sp>
        <p:nvSpPr>
          <p:cNvPr id="327" name="Google Shape;327;g3be5ed02188_0_33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NVIDIA GPU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--gpus all flag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NVIDIA container toolkit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CUDA compatibility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VRAM requirements (7B+ models)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image reasoning &amp; captioning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e5ed02188_0_3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vs GPU Configuration</a:t>
            </a:r>
            <a:endParaRPr/>
          </a:p>
        </p:txBody>
      </p:sp>
      <p:sp>
        <p:nvSpPr>
          <p:cNvPr id="333" name="Google Shape;333;g3be5ed02188_0_34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CPU: Simple setup, slower inference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GPU: High performance, complex setup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 GPU with nvidia-smi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CUDA version with driver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memory usage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OOM errors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e5ed02188_0_3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Compatibility &amp; Architecture</a:t>
            </a:r>
            <a:endParaRPr/>
          </a:p>
        </p:txBody>
      </p:sp>
      <p:sp>
        <p:nvSpPr>
          <p:cNvPr id="339" name="Google Shape;339;g3be5ed02188_0_34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system architecture (x86_64 vs arm64)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container supports your platform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 CUDA compatibility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VRAM before choosing model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quantized models if needed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performance before production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e5ed02188_0_3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Best Practices</a:t>
            </a:r>
            <a:endParaRPr/>
          </a:p>
        </p:txBody>
      </p:sp>
      <p:sp>
        <p:nvSpPr>
          <p:cNvPr id="345" name="Google Shape;345;g3be5ed02188_0_35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 model and container versions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CPU, GPU, memory usage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logging &amp; observability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APIs with authentication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images for vulnerabilities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 deployment with CI/CD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e5ed02188_0_4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7 Overview – Agentic Workflows Using container-use</a:t>
            </a:r>
            <a:endParaRPr/>
          </a:p>
        </p:txBody>
      </p:sp>
      <p:sp>
        <p:nvSpPr>
          <p:cNvPr id="351" name="Google Shape;351;g3be5ed02188_0_43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165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concept of container-use in AI systems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65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one-shot vs modular workflow patterns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65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AI tools inside isolated container environments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65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Compose workflows using declarative patterns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65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production-grade execution architecture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656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 for advanced multi-agent orchestration systems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e5ed02188_0_4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Agentic Workflows Matter</a:t>
            </a:r>
            <a:endParaRPr/>
          </a:p>
        </p:txBody>
      </p:sp>
      <p:sp>
        <p:nvSpPr>
          <p:cNvPr id="357" name="Google Shape;357;g3be5ed02188_0_44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scripts are static and sequential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systems perform reasoning before execution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dynamic decision-making and tool selection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multi-step problem solving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automation reliability and scalability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autonomous AI systems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e5ed02188_0_4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container-use?</a:t>
            </a:r>
            <a:endParaRPr/>
          </a:p>
        </p:txBody>
      </p:sp>
      <p:sp>
        <p:nvSpPr>
          <p:cNvPr id="363" name="Google Shape;363;g3be5ed02188_0_44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of tasks inside isolated containers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clean runtime per workflow step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host environment contamination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reproducibility of execution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dependency isolation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Acts as secure sandbox for AI tools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e5ed02188_0_4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Benefits of Isolation</a:t>
            </a:r>
            <a:endParaRPr/>
          </a:p>
        </p:txBody>
      </p:sp>
      <p:sp>
        <p:nvSpPr>
          <p:cNvPr id="369" name="Google Shape;369;g3be5ed02188_0_45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Avoids dependency conflicts across workflows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system security and control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safe execution of generated code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resource limitation (CPU, memory)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Simplifies debugging and reproducibility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Encourages production-grade engineering discipline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e5ed02188_0_4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One-Shot Workflow Pattern</a:t>
            </a:r>
            <a:endParaRPr/>
          </a:p>
        </p:txBody>
      </p:sp>
      <p:sp>
        <p:nvSpPr>
          <p:cNvPr id="375" name="Google Shape;375;g3be5ed02188_0_45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task executed inside one container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starts, executes task, then stops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Suitable for simple transformations or analysis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Document summarization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orchestration required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operational complexity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e5ed02188_0_4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Workflow Pattern</a:t>
            </a:r>
            <a:endParaRPr/>
          </a:p>
        </p:txBody>
      </p:sp>
      <p:sp>
        <p:nvSpPr>
          <p:cNvPr id="381" name="Google Shape;381;g3be5ed02188_0_46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broken into multiple isolated steps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step runs in separate container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 passed between stages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scaling of individual components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reuse of workflow modules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in enterprise AI systems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e5ed02188_0_4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Agents + Container Execution</a:t>
            </a:r>
            <a:endParaRPr/>
          </a:p>
        </p:txBody>
      </p:sp>
      <p:sp>
        <p:nvSpPr>
          <p:cNvPr id="387" name="Google Shape;387;g3be5ed02188_0_46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generates code dynamically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executed inside isolated container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evaluated by agent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fixes errors and retries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autonomous development loops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for safe AI code execution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e5ed02188_0_4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Workflow Composition</a:t>
            </a:r>
            <a:endParaRPr/>
          </a:p>
        </p:txBody>
      </p:sp>
      <p:sp>
        <p:nvSpPr>
          <p:cNvPr id="393" name="Google Shape;393;g3be5ed02188_0_47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defined as structured configuration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Describes steps instead of hardcoding logic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clarity and maintainability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orchestration engines to interpret flow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versioning of workflows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Encourages reusable execution templates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e5ed02188_0_4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Declarative Structure Concept</a:t>
            </a:r>
            <a:endParaRPr/>
          </a:p>
        </p:txBody>
      </p:sp>
      <p:sp>
        <p:nvSpPr>
          <p:cNvPr id="399" name="Google Shape;399;g3be5ed02188_0_47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workflow name and steps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Specify container image per step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execution script or command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input-output mapping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logging and monitoring hooks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retry and failure policies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e5ed02188_0_4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Applications</a:t>
            </a:r>
            <a:endParaRPr/>
          </a:p>
        </p:txBody>
      </p:sp>
      <p:sp>
        <p:nvSpPr>
          <p:cNvPr id="405" name="Google Shape;405;g3be5ed02188_0_48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code review automation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 and ML training pipelines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intelligence workflows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 content generation systems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automation with AI agents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Multi-agent orchestration frameworks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e5ed02188_0_4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Practices for Production Systems</a:t>
            </a:r>
            <a:endParaRPr/>
          </a:p>
        </p:txBody>
      </p:sp>
      <p:sp>
        <p:nvSpPr>
          <p:cNvPr id="411" name="Google Shape;411;g3be5ed02188_0_48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minimal and secure base images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containers as non-root users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CPU and memory constraints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structured logging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retry and validation logic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Version-control workflow definitions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execution metrics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e5ed02188_0_4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Mistakes to Avoid</a:t>
            </a:r>
            <a:endParaRPr/>
          </a:p>
        </p:txBody>
      </p:sp>
      <p:sp>
        <p:nvSpPr>
          <p:cNvPr id="417" name="Google Shape;417;g3be5ed02188_0_49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AI-generated code on host machine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Hardcoding workflow logic in scripts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Ignoring failure handling strategies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validating container outputs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Overloading single container with all tasks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Skipping security checks and scanning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e5ed02188_0_4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Architecture Pattern</a:t>
            </a:r>
            <a:endParaRPr/>
          </a:p>
        </p:txBody>
      </p:sp>
      <p:sp>
        <p:nvSpPr>
          <p:cNvPr id="423" name="Google Shape;423;g3be5ed02188_0_49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 agent decomposes task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selector chooses execution step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executes tool safely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Evaluator checks output quality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Retry loop handles errors automatically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aggregated and returned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Forms base of autonomous AI platforms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e5ed02188_0_5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Summary – Key Takeaways</a:t>
            </a:r>
            <a:endParaRPr/>
          </a:p>
        </p:txBody>
      </p:sp>
      <p:sp>
        <p:nvSpPr>
          <p:cNvPr id="429" name="Google Shape;429;g3be5ed02188_0_50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Container-use enables safe AI execution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is critical for production systems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One-shot and modular patterns serve different needs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workflows improve scalability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+ containers enable autonomous loops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enterprise-grade GenAI systems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